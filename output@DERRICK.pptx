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0"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8" d="100"/>
          <a:sy n="88" d="100"/>
        </p:scale>
        <p:origin x="46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F0EED235-EE41-40B2-BCCD-84B9C1506047}" type="datetimeFigureOut">
              <a:rPr lang="en-US" smtClean="0"/>
              <a:t>Sun 14-December-2025</a:t>
            </a:fld>
            <a:endParaRPr lang="en-US"/>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59265321-591C-4FF3-94AA-346E7B6773EA}" type="slidenum">
              <a:rPr lang="en-US" smtClean="0"/>
              <a:t>‹#›</a:t>
            </a:fld>
            <a:endParaRPr lang="en-US"/>
          </a:p>
        </p:txBody>
      </p:sp>
    </p:spTree>
    <p:extLst>
      <p:ext uri="{BB962C8B-B14F-4D97-AF65-F5344CB8AC3E}">
        <p14:creationId xmlns:p14="http://schemas.microsoft.com/office/powerpoint/2010/main" val="42154952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F0EED235-EE41-40B2-BCCD-84B9C1506047}" type="datetimeFigureOut">
              <a:rPr lang="en-US" smtClean="0"/>
              <a:t>Sun 14-December-2025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265321-591C-4FF3-94AA-346E7B6773EA}" type="slidenum">
              <a:rPr lang="en-US" smtClean="0"/>
              <a:t>‹#›</a:t>
            </a:fld>
            <a:endParaRPr lang="en-US"/>
          </a:p>
        </p:txBody>
      </p:sp>
    </p:spTree>
    <p:extLst>
      <p:ext uri="{BB962C8B-B14F-4D97-AF65-F5344CB8AC3E}">
        <p14:creationId xmlns:p14="http://schemas.microsoft.com/office/powerpoint/2010/main" val="10486975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F0EED235-EE41-40B2-BCCD-84B9C1506047}" type="datetimeFigureOut">
              <a:rPr lang="en-US" smtClean="0"/>
              <a:t>Sun 14-December-2025</a:t>
            </a:fld>
            <a:endParaRPr lang="en-US"/>
          </a:p>
        </p:txBody>
      </p:sp>
      <p:sp>
        <p:nvSpPr>
          <p:cNvPr id="5" name="Footer Placeholder 4"/>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59265321-591C-4FF3-94AA-346E7B6773EA}" type="slidenum">
              <a:rPr lang="en-US" smtClean="0"/>
              <a:t>‹#›</a:t>
            </a:fld>
            <a:endParaRPr lang="en-US"/>
          </a:p>
        </p:txBody>
      </p:sp>
    </p:spTree>
    <p:extLst>
      <p:ext uri="{BB962C8B-B14F-4D97-AF65-F5344CB8AC3E}">
        <p14:creationId xmlns:p14="http://schemas.microsoft.com/office/powerpoint/2010/main" val="441629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F0EED235-EE41-40B2-BCCD-84B9C1506047}" type="datetimeFigureOut">
              <a:rPr lang="en-US" smtClean="0"/>
              <a:t>Sun 14-December-2025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9265321-591C-4FF3-94AA-346E7B6773EA}" type="slidenum">
              <a:rPr lang="en-US" smtClean="0"/>
              <a:t>‹#›</a:t>
            </a:fld>
            <a:endParaRPr lang="en-US"/>
          </a:p>
        </p:txBody>
      </p:sp>
    </p:spTree>
    <p:extLst>
      <p:ext uri="{BB962C8B-B14F-4D97-AF65-F5344CB8AC3E}">
        <p14:creationId xmlns:p14="http://schemas.microsoft.com/office/powerpoint/2010/main" val="3727947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F0EED235-EE41-40B2-BCCD-84B9C1506047}" type="datetimeFigureOut">
              <a:rPr lang="en-US" smtClean="0"/>
              <a:t>Sun 14-December-2025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9265321-591C-4FF3-94AA-346E7B6773EA}" type="slidenum">
              <a:rPr lang="en-US" smtClean="0"/>
              <a:t>‹#›</a:t>
            </a:fld>
            <a:endParaRPr lang="en-US"/>
          </a:p>
        </p:txBody>
      </p:sp>
    </p:spTree>
    <p:extLst>
      <p:ext uri="{BB962C8B-B14F-4D97-AF65-F5344CB8AC3E}">
        <p14:creationId xmlns:p14="http://schemas.microsoft.com/office/powerpoint/2010/main" val="28147156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F0EED235-EE41-40B2-BCCD-84B9C1506047}" type="datetimeFigureOut">
              <a:rPr lang="en-US" smtClean="0"/>
              <a:t>Sun 14-December-2025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9265321-591C-4FF3-94AA-346E7B6773EA}" type="slidenum">
              <a:rPr lang="en-US" smtClean="0"/>
              <a:t>‹#›</a:t>
            </a:fld>
            <a:endParaRPr lang="en-US"/>
          </a:p>
        </p:txBody>
      </p:sp>
    </p:spTree>
    <p:extLst>
      <p:ext uri="{BB962C8B-B14F-4D97-AF65-F5344CB8AC3E}">
        <p14:creationId xmlns:p14="http://schemas.microsoft.com/office/powerpoint/2010/main" val="19765685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0EED235-EE41-40B2-BCCD-84B9C1506047}" type="datetimeFigureOut">
              <a:rPr lang="en-US" smtClean="0"/>
              <a:t>Sun 14-December-2025</a:t>
            </a:fld>
            <a:endParaRPr lang="en-US"/>
          </a:p>
        </p:txBody>
      </p:sp>
      <p:sp>
        <p:nvSpPr>
          <p:cNvPr id="3" name="Footer Placeholder 2"/>
          <p:cNvSpPr>
            <a:spLocks noGrp="1"/>
          </p:cNvSpPr>
          <p:nvPr>
            <p:ph type="ftr" sz="quarter" idx="11"/>
          </p:nvPr>
        </p:nvSpPr>
        <p:spPr/>
        <p:txBody>
          <a:bodyPr/>
          <a:lstStyle/>
          <a:p>
            <a:endParaRPr lang="en-US"/>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59265321-591C-4FF3-94AA-346E7B6773EA}" type="slidenum">
              <a:rPr lang="en-US" smtClean="0"/>
              <a:t>‹#›</a:t>
            </a:fld>
            <a:endParaRPr lang="en-US"/>
          </a:p>
        </p:txBody>
      </p:sp>
    </p:spTree>
    <p:extLst>
      <p:ext uri="{BB962C8B-B14F-4D97-AF65-F5344CB8AC3E}">
        <p14:creationId xmlns:p14="http://schemas.microsoft.com/office/powerpoint/2010/main" val="11141617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F0EED235-EE41-40B2-BCCD-84B9C1506047}" type="datetimeFigureOut">
              <a:rPr lang="en-US" smtClean="0"/>
              <a:t>Sun 14-December-2025</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59265321-591C-4FF3-94AA-346E7B6773EA}" type="slidenum">
              <a:rPr lang="en-US" smtClean="0"/>
              <a:t>‹#›</a:t>
            </a:fld>
            <a:endParaRPr lang="en-US"/>
          </a:p>
        </p:txBody>
      </p:sp>
    </p:spTree>
    <p:extLst>
      <p:ext uri="{BB962C8B-B14F-4D97-AF65-F5344CB8AC3E}">
        <p14:creationId xmlns:p14="http://schemas.microsoft.com/office/powerpoint/2010/main" val="34510408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smtClean="0"/>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F0EED235-EE41-40B2-BCCD-84B9C1506047}" type="datetimeFigureOut">
              <a:rPr lang="en-US" smtClean="0"/>
              <a:t>Sun 14-December-2025</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59265321-591C-4FF3-94AA-346E7B6773EA}" type="slidenum">
              <a:rPr lang="en-US" smtClean="0"/>
              <a:t>‹#›</a:t>
            </a:fld>
            <a:endParaRPr lang="en-US"/>
          </a:p>
        </p:txBody>
      </p:sp>
    </p:spTree>
    <p:extLst>
      <p:ext uri="{BB962C8B-B14F-4D97-AF65-F5344CB8AC3E}">
        <p14:creationId xmlns:p14="http://schemas.microsoft.com/office/powerpoint/2010/main" val="717674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F0EED235-EE41-40B2-BCCD-84B9C1506047}" type="datetimeFigureOut">
              <a:rPr lang="en-US" smtClean="0"/>
              <a:t>Sun 14-December-2025</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59265321-591C-4FF3-94AA-346E7B6773EA}" type="slidenum">
              <a:rPr lang="en-US" smtClean="0"/>
              <a:t>‹#›</a:t>
            </a:fld>
            <a:endParaRPr lang="en-US"/>
          </a:p>
        </p:txBody>
      </p:sp>
    </p:spTree>
    <p:extLst>
      <p:ext uri="{BB962C8B-B14F-4D97-AF65-F5344CB8AC3E}">
        <p14:creationId xmlns:p14="http://schemas.microsoft.com/office/powerpoint/2010/main" val="29349170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smtClean="0"/>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4" name="Date Placeholder 3"/>
          <p:cNvSpPr>
            <a:spLocks noGrp="1"/>
          </p:cNvSpPr>
          <p:nvPr>
            <p:ph type="dt" sz="half" idx="10"/>
          </p:nvPr>
        </p:nvSpPr>
        <p:spPr/>
        <p:txBody>
          <a:bodyPr/>
          <a:lstStyle/>
          <a:p>
            <a:fld id="{F0EED235-EE41-40B2-BCCD-84B9C1506047}" type="datetimeFigureOut">
              <a:rPr lang="en-US" smtClean="0"/>
              <a:t>Sun 14-December-2025</a:t>
            </a:fld>
            <a:endParaRPr lang="en-US"/>
          </a:p>
        </p:txBody>
      </p:sp>
      <p:sp>
        <p:nvSpPr>
          <p:cNvPr id="5" name="Footer Placeholder 4"/>
          <p:cNvSpPr>
            <a:spLocks noGrp="1"/>
          </p:cNvSpPr>
          <p:nvPr>
            <p:ph type="ftr" sz="quarter" idx="11"/>
          </p:nvPr>
        </p:nvSpPr>
        <p:spPr/>
        <p:txBody>
          <a:bodyPr/>
          <a:lstStyle/>
          <a:p>
            <a:endParaRPr lang="en-US"/>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59265321-591C-4FF3-94AA-346E7B6773EA}" type="slidenum">
              <a:rPr lang="en-US" smtClean="0"/>
              <a:t>‹#›</a:t>
            </a:fld>
            <a:endParaRPr lang="en-US"/>
          </a:p>
        </p:txBody>
      </p:sp>
    </p:spTree>
    <p:extLst>
      <p:ext uri="{BB962C8B-B14F-4D97-AF65-F5344CB8AC3E}">
        <p14:creationId xmlns:p14="http://schemas.microsoft.com/office/powerpoint/2010/main" val="304062816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smtClean="0"/>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4" name="Date Placeholder 3"/>
          <p:cNvSpPr>
            <a:spLocks noGrp="1"/>
          </p:cNvSpPr>
          <p:nvPr>
            <p:ph type="dt" sz="half" idx="10"/>
          </p:nvPr>
        </p:nvSpPr>
        <p:spPr/>
        <p:txBody>
          <a:bodyPr/>
          <a:lstStyle/>
          <a:p>
            <a:fld id="{F0EED235-EE41-40B2-BCCD-84B9C1506047}" type="datetimeFigureOut">
              <a:rPr lang="en-US" smtClean="0"/>
              <a:t>Sun 14-December-2025</a:t>
            </a:fld>
            <a:endParaRPr lang="en-US"/>
          </a:p>
        </p:txBody>
      </p:sp>
      <p:sp>
        <p:nvSpPr>
          <p:cNvPr id="5" name="Footer Placeholder 4"/>
          <p:cNvSpPr>
            <a:spLocks noGrp="1"/>
          </p:cNvSpPr>
          <p:nvPr>
            <p:ph type="ftr" sz="quarter" idx="11"/>
          </p:nvPr>
        </p:nvSpPr>
        <p:spPr/>
        <p:txBody>
          <a:bodyPr/>
          <a:lstStyle/>
          <a:p>
            <a:endParaRPr lang="en-US"/>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59265321-591C-4FF3-94AA-346E7B6773EA}" type="slidenum">
              <a:rPr lang="en-US" smtClean="0"/>
              <a:t>‹#›</a:t>
            </a:fld>
            <a:endParaRPr lang="en-US"/>
          </a:p>
        </p:txBody>
      </p:sp>
    </p:spTree>
    <p:extLst>
      <p:ext uri="{BB962C8B-B14F-4D97-AF65-F5344CB8AC3E}">
        <p14:creationId xmlns:p14="http://schemas.microsoft.com/office/powerpoint/2010/main" val="8808971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F0EED235-EE41-40B2-BCCD-84B9C1506047}" type="datetimeFigureOut">
              <a:rPr lang="en-US" smtClean="0"/>
              <a:t>Sun 14-December-2025</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59265321-591C-4FF3-94AA-346E7B6773EA}" type="slidenum">
              <a:rPr lang="en-US" smtClean="0"/>
              <a:t>‹#›</a:t>
            </a:fld>
            <a:endParaRPr lang="en-US"/>
          </a:p>
        </p:txBody>
      </p:sp>
    </p:spTree>
    <p:extLst>
      <p:ext uri="{BB962C8B-B14F-4D97-AF65-F5344CB8AC3E}">
        <p14:creationId xmlns:p14="http://schemas.microsoft.com/office/powerpoint/2010/main" val="8427434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smtClean="0"/>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F0EED235-EE41-40B2-BCCD-84B9C1506047}" type="datetimeFigureOut">
              <a:rPr lang="en-US" smtClean="0"/>
              <a:t>Sun 14-December-2025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9265321-591C-4FF3-94AA-346E7B6773EA}" type="slidenum">
              <a:rPr lang="en-US" smtClean="0"/>
              <a:t>‹#›</a:t>
            </a:fld>
            <a:endParaRPr lang="en-US"/>
          </a:p>
        </p:txBody>
      </p:sp>
    </p:spTree>
    <p:extLst>
      <p:ext uri="{BB962C8B-B14F-4D97-AF65-F5344CB8AC3E}">
        <p14:creationId xmlns:p14="http://schemas.microsoft.com/office/powerpoint/2010/main" val="45733364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smtClean="0"/>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F0EED235-EE41-40B2-BCCD-84B9C1506047}" type="datetimeFigureOut">
              <a:rPr lang="en-US" smtClean="0"/>
              <a:t>Sun 14-December-2025</a:t>
            </a:fld>
            <a:endParaRPr lang="en-US"/>
          </a:p>
        </p:txBody>
      </p:sp>
      <p:sp>
        <p:nvSpPr>
          <p:cNvPr id="8" name="Footer Placeholder 7"/>
          <p:cNvSpPr>
            <a:spLocks noGrp="1"/>
          </p:cNvSpPr>
          <p:nvPr>
            <p:ph type="ftr" sz="quarter" idx="11"/>
          </p:nvPr>
        </p:nvSpPr>
        <p:spPr>
          <a:xfrm>
            <a:off x="561111" y="6391838"/>
            <a:ext cx="3644282" cy="304801"/>
          </a:xfrm>
        </p:spPr>
        <p:txBody>
          <a:bodyPr/>
          <a:lstStyle/>
          <a:p>
            <a:endParaRPr lang="en-US"/>
          </a:p>
        </p:txBody>
      </p:sp>
      <p:sp>
        <p:nvSpPr>
          <p:cNvPr id="9" name="Slide Number Placeholder 8"/>
          <p:cNvSpPr>
            <a:spLocks noGrp="1"/>
          </p:cNvSpPr>
          <p:nvPr>
            <p:ph type="sldNum" sz="quarter" idx="12"/>
          </p:nvPr>
        </p:nvSpPr>
        <p:spPr/>
        <p:txBody>
          <a:bodyPr/>
          <a:lstStyle/>
          <a:p>
            <a:fld id="{59265321-591C-4FF3-94AA-346E7B6773EA}" type="slidenum">
              <a:rPr lang="en-US" smtClean="0"/>
              <a:t>‹#›</a:t>
            </a:fld>
            <a:endParaRPr lang="en-US"/>
          </a:p>
        </p:txBody>
      </p:sp>
    </p:spTree>
    <p:extLst>
      <p:ext uri="{BB962C8B-B14F-4D97-AF65-F5344CB8AC3E}">
        <p14:creationId xmlns:p14="http://schemas.microsoft.com/office/powerpoint/2010/main" val="337091654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F0EED235-EE41-40B2-BCCD-84B9C1506047}" type="datetimeFigureOut">
              <a:rPr lang="en-US" smtClean="0"/>
              <a:t>Sun 14-December-2025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265321-591C-4FF3-94AA-346E7B6773EA}" type="slidenum">
              <a:rPr lang="en-US" smtClean="0"/>
              <a:t>‹#›</a:t>
            </a:fld>
            <a:endParaRPr lang="en-US"/>
          </a:p>
        </p:txBody>
      </p:sp>
    </p:spTree>
    <p:extLst>
      <p:ext uri="{BB962C8B-B14F-4D97-AF65-F5344CB8AC3E}">
        <p14:creationId xmlns:p14="http://schemas.microsoft.com/office/powerpoint/2010/main" val="237787891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F0EED235-EE41-40B2-BCCD-84B9C1506047}" type="datetimeFigureOut">
              <a:rPr lang="en-US" smtClean="0"/>
              <a:t>Sun 14-December-2025</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59265321-591C-4FF3-94AA-346E7B6773EA}" type="slidenum">
              <a:rPr lang="en-US" smtClean="0"/>
              <a:t>‹#›</a:t>
            </a:fld>
            <a:endParaRPr lang="en-US"/>
          </a:p>
        </p:txBody>
      </p:sp>
    </p:spTree>
    <p:extLst>
      <p:ext uri="{BB962C8B-B14F-4D97-AF65-F5344CB8AC3E}">
        <p14:creationId xmlns:p14="http://schemas.microsoft.com/office/powerpoint/2010/main" val="22615659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smtClean="0"/>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F0EED235-EE41-40B2-BCCD-84B9C1506047}" type="datetimeFigureOut">
              <a:rPr lang="en-US" smtClean="0"/>
              <a:t>Sun 14-December-2025</a:t>
            </a:fld>
            <a:endParaRPr lang="en-US"/>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59265321-591C-4FF3-94AA-346E7B6773EA}" type="slidenum">
              <a:rPr lang="en-US" smtClean="0"/>
              <a:t>‹#›</a:t>
            </a:fld>
            <a:endParaRPr lang="en-US"/>
          </a:p>
        </p:txBody>
      </p:sp>
    </p:spTree>
    <p:extLst>
      <p:ext uri="{BB962C8B-B14F-4D97-AF65-F5344CB8AC3E}">
        <p14:creationId xmlns:p14="http://schemas.microsoft.com/office/powerpoint/2010/main" val="1333346311"/>
      </p:ext>
    </p:extLst>
  </p:cSld>
  <p:clrMap bg1="lt1" tx1="dk1" bg2="lt2" tx2="dk2" accent1="accent1" accent2="accent2" accent3="accent3" accent4="accent4" accent5="accent5" accent6="accent6" hlink="hlink" folHlink="folHlink"/>
  <p:sldLayoutIdLst>
    <p:sldLayoutId id="2147483751" r:id="rId1"/>
    <p:sldLayoutId id="2147483752" r:id="rId2"/>
    <p:sldLayoutId id="2147483753" r:id="rId3"/>
    <p:sldLayoutId id="2147483754" r:id="rId4"/>
    <p:sldLayoutId id="2147483755" r:id="rId5"/>
    <p:sldLayoutId id="2147483756" r:id="rId6"/>
    <p:sldLayoutId id="2147483757" r:id="rId7"/>
    <p:sldLayoutId id="2147483758" r:id="rId8"/>
    <p:sldLayoutId id="2147483759" r:id="rId9"/>
    <p:sldLayoutId id="2147483760" r:id="rId10"/>
    <p:sldLayoutId id="2147483761" r:id="rId11"/>
    <p:sldLayoutId id="2147483762" r:id="rId12"/>
    <p:sldLayoutId id="2147483763" r:id="rId13"/>
    <p:sldLayoutId id="2147483764" r:id="rId14"/>
    <p:sldLayoutId id="2147483765" r:id="rId15"/>
    <p:sldLayoutId id="2147483766" r:id="rId16"/>
    <p:sldLayoutId id="2147483767"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Code output</a:t>
            </a:r>
            <a:endParaRPr lang="en-US" dirty="0"/>
          </a:p>
        </p:txBody>
      </p:sp>
      <p:sp>
        <p:nvSpPr>
          <p:cNvPr id="3" name="Subtitle 2"/>
          <p:cNvSpPr>
            <a:spLocks noGrp="1"/>
          </p:cNvSpPr>
          <p:nvPr>
            <p:ph type="subTitle" idx="1"/>
          </p:nvPr>
        </p:nvSpPr>
        <p:spPr/>
        <p:txBody>
          <a:bodyPr/>
          <a:lstStyle/>
          <a:p>
            <a:r>
              <a:rPr lang="en-US" smtClean="0"/>
              <a:t>MUWULYA DERRICK</a:t>
            </a:r>
            <a:r>
              <a:rPr lang="en-US" smtClean="0"/>
              <a:t> 2023-B072-31713</a:t>
            </a:r>
            <a:endParaRPr lang="en-US" dirty="0"/>
          </a:p>
        </p:txBody>
      </p:sp>
    </p:spTree>
    <p:extLst>
      <p:ext uri="{BB962C8B-B14F-4D97-AF65-F5344CB8AC3E}">
        <p14:creationId xmlns:p14="http://schemas.microsoft.com/office/powerpoint/2010/main" val="15804138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PART A DATASET AND TRANSACTION</a:t>
            </a:r>
            <a:endParaRPr lang="en-US" dirty="0"/>
          </a:p>
        </p:txBody>
      </p:sp>
      <p:pic>
        <p:nvPicPr>
          <p:cNvPr id="7" name="Content Placeholder 6"/>
          <p:cNvPicPr>
            <a:picLocks noGrp="1" noChangeAspect="1"/>
          </p:cNvPicPr>
          <p:nvPr>
            <p:ph idx="1"/>
          </p:nvPr>
        </p:nvPicPr>
        <p:blipFill>
          <a:blip r:embed="rId2"/>
          <a:stretch>
            <a:fillRect/>
          </a:stretch>
        </p:blipFill>
        <p:spPr>
          <a:xfrm>
            <a:off x="3206406" y="2603500"/>
            <a:ext cx="4723501" cy="3416300"/>
          </a:xfrm>
          <a:prstGeom prst="rect">
            <a:avLst/>
          </a:prstGeom>
        </p:spPr>
      </p:pic>
    </p:spTree>
    <p:extLst>
      <p:ext uri="{BB962C8B-B14F-4D97-AF65-F5344CB8AC3E}">
        <p14:creationId xmlns:p14="http://schemas.microsoft.com/office/powerpoint/2010/main" val="13295030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PART  B APRIORI ALOGORITHM= FREQUENT ITEMSETS</a:t>
            </a:r>
            <a:endParaRPr lang="en-US" dirty="0"/>
          </a:p>
        </p:txBody>
      </p:sp>
      <p:pic>
        <p:nvPicPr>
          <p:cNvPr id="4" name="Content Placeholder 3"/>
          <p:cNvPicPr>
            <a:picLocks noGrp="1" noChangeAspect="1"/>
          </p:cNvPicPr>
          <p:nvPr>
            <p:ph idx="1"/>
          </p:nvPr>
        </p:nvPicPr>
        <p:blipFill>
          <a:blip r:embed="rId2"/>
          <a:stretch>
            <a:fillRect/>
          </a:stretch>
        </p:blipFill>
        <p:spPr>
          <a:xfrm>
            <a:off x="3554980" y="2603500"/>
            <a:ext cx="4026353" cy="3416300"/>
          </a:xfrm>
          <a:prstGeom prst="rect">
            <a:avLst/>
          </a:prstGeom>
        </p:spPr>
      </p:pic>
    </p:spTree>
    <p:extLst>
      <p:ext uri="{BB962C8B-B14F-4D97-AF65-F5344CB8AC3E}">
        <p14:creationId xmlns:p14="http://schemas.microsoft.com/office/powerpoint/2010/main" val="27149128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ASSOCIATION RULES</a:t>
            </a:r>
            <a:endParaRPr lang="en-US" dirty="0"/>
          </a:p>
        </p:txBody>
      </p:sp>
      <p:pic>
        <p:nvPicPr>
          <p:cNvPr id="5" name="Content Placeholder 4"/>
          <p:cNvPicPr>
            <a:picLocks noGrp="1" noChangeAspect="1"/>
          </p:cNvPicPr>
          <p:nvPr>
            <p:ph idx="1"/>
          </p:nvPr>
        </p:nvPicPr>
        <p:blipFill>
          <a:blip r:embed="rId2"/>
          <a:stretch>
            <a:fillRect/>
          </a:stretch>
        </p:blipFill>
        <p:spPr>
          <a:xfrm>
            <a:off x="2507016" y="2603500"/>
            <a:ext cx="6122280" cy="3416300"/>
          </a:xfrm>
          <a:prstGeom prst="rect">
            <a:avLst/>
          </a:prstGeom>
        </p:spPr>
      </p:pic>
    </p:spTree>
    <p:extLst>
      <p:ext uri="{BB962C8B-B14F-4D97-AF65-F5344CB8AC3E}">
        <p14:creationId xmlns:p14="http://schemas.microsoft.com/office/powerpoint/2010/main" val="7519156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PART C: INTERPRETATION: </a:t>
            </a:r>
            <a:r>
              <a:rPr lang="en-US" b="1" dirty="0" smtClean="0"/>
              <a:t>Strongest Association Rules Based on Lift</a:t>
            </a:r>
            <a:br>
              <a:rPr lang="en-US" b="1" dirty="0" smtClean="0"/>
            </a:br>
            <a:endParaRPr lang="en-US" dirty="0"/>
          </a:p>
        </p:txBody>
      </p:sp>
      <p:sp>
        <p:nvSpPr>
          <p:cNvPr id="3" name="Content Placeholder 2"/>
          <p:cNvSpPr>
            <a:spLocks noGrp="1"/>
          </p:cNvSpPr>
          <p:nvPr>
            <p:ph idx="1"/>
          </p:nvPr>
        </p:nvSpPr>
        <p:spPr/>
        <p:txBody>
          <a:bodyPr>
            <a:normAutofit fontScale="92500" lnSpcReduction="10000"/>
          </a:bodyPr>
          <a:lstStyle/>
          <a:p>
            <a:pPr>
              <a:buAutoNum type="arabicPeriod"/>
            </a:pPr>
            <a:r>
              <a:rPr lang="en-US" b="1" dirty="0" smtClean="0"/>
              <a:t>{Diapers</a:t>
            </a:r>
            <a:r>
              <a:rPr lang="en-US" b="1" dirty="0"/>
              <a:t>} → {Beer}</a:t>
            </a:r>
            <a:r>
              <a:rPr lang="en-US" dirty="0"/>
              <a:t/>
            </a:r>
            <a:br>
              <a:rPr lang="en-US" dirty="0"/>
            </a:br>
            <a:r>
              <a:rPr lang="en-US" dirty="0"/>
              <a:t>This rule indicates that customers who purchase diapers are highly likely to also purchase beer in the same transaction. The high lift value shows a strong positive relationship between these two items, suggesting that they are frequently bought together more than expected by chance</a:t>
            </a:r>
            <a:r>
              <a:rPr lang="en-US" dirty="0" smtClean="0"/>
              <a:t>.</a:t>
            </a:r>
          </a:p>
          <a:p>
            <a:pPr>
              <a:buAutoNum type="arabicPeriod"/>
            </a:pPr>
            <a:r>
              <a:rPr lang="en-US" b="1" dirty="0"/>
              <a:t>{Bread, Milk} → {Butter}</a:t>
            </a:r>
            <a:r>
              <a:rPr lang="en-US" dirty="0"/>
              <a:t/>
            </a:r>
            <a:br>
              <a:rPr lang="en-US" dirty="0"/>
            </a:br>
            <a:r>
              <a:rPr lang="en-US" dirty="0"/>
              <a:t>This rule shows that customers who buy bread and milk together have a high probability of also buying butter. This reflects a common household purchasing pattern where complementary food items are bought together</a:t>
            </a:r>
            <a:r>
              <a:rPr lang="en-US" dirty="0" smtClean="0"/>
              <a:t>.</a:t>
            </a:r>
          </a:p>
          <a:p>
            <a:pPr>
              <a:buAutoNum type="arabicPeriod"/>
            </a:pPr>
            <a:r>
              <a:rPr lang="en-US" b="1" dirty="0"/>
              <a:t>{Eggs} → {Milk}</a:t>
            </a:r>
            <a:r>
              <a:rPr lang="en-US" dirty="0"/>
              <a:t/>
            </a:r>
            <a:br>
              <a:rPr lang="en-US" dirty="0"/>
            </a:br>
            <a:r>
              <a:rPr lang="en-US" dirty="0"/>
              <a:t>This rule suggests that customers purchasing eggs are likely to also purchase milk. The strong association indicates that these are staple items commonly bought together for home consumption, especially for breakfast.</a:t>
            </a:r>
          </a:p>
        </p:txBody>
      </p:sp>
    </p:spTree>
    <p:extLst>
      <p:ext uri="{BB962C8B-B14F-4D97-AF65-F5344CB8AC3E}">
        <p14:creationId xmlns:p14="http://schemas.microsoft.com/office/powerpoint/2010/main" val="6766286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Business Recommendations</a:t>
            </a:r>
          </a:p>
        </p:txBody>
      </p:sp>
      <p:sp>
        <p:nvSpPr>
          <p:cNvPr id="3" name="Content Placeholder 2"/>
          <p:cNvSpPr>
            <a:spLocks noGrp="1"/>
          </p:cNvSpPr>
          <p:nvPr>
            <p:ph idx="1"/>
          </p:nvPr>
        </p:nvSpPr>
        <p:spPr/>
        <p:txBody>
          <a:bodyPr/>
          <a:lstStyle/>
          <a:p>
            <a:pPr>
              <a:buAutoNum type="arabicPeriod"/>
            </a:pPr>
            <a:r>
              <a:rPr lang="en-US" b="1" dirty="0" smtClean="0"/>
              <a:t>Product </a:t>
            </a:r>
            <a:r>
              <a:rPr lang="en-US" b="1" dirty="0"/>
              <a:t>Placement and Cross-Selling</a:t>
            </a:r>
            <a:r>
              <a:rPr lang="en-US" dirty="0"/>
              <a:t/>
            </a:r>
            <a:br>
              <a:rPr lang="en-US" dirty="0"/>
            </a:br>
            <a:r>
              <a:rPr lang="en-US" dirty="0"/>
              <a:t>The supermarket should place strongly associated items such as </a:t>
            </a:r>
            <a:r>
              <a:rPr lang="en-US" b="1" dirty="0"/>
              <a:t>diapers and beer</a:t>
            </a:r>
            <a:r>
              <a:rPr lang="en-US" dirty="0"/>
              <a:t> closer to each other on shelves or promote them together. This can encourage impulse buying and increase the overall basket value</a:t>
            </a:r>
            <a:r>
              <a:rPr lang="en-US" dirty="0" smtClean="0"/>
              <a:t>.</a:t>
            </a:r>
          </a:p>
          <a:p>
            <a:pPr>
              <a:buAutoNum type="arabicPeriod"/>
            </a:pPr>
            <a:r>
              <a:rPr lang="en-US" b="1" dirty="0"/>
              <a:t>Bundle Promotions</a:t>
            </a:r>
            <a:r>
              <a:rPr lang="en-US" dirty="0"/>
              <a:t/>
            </a:r>
            <a:br>
              <a:rPr lang="en-US" dirty="0"/>
            </a:br>
            <a:r>
              <a:rPr lang="en-US" dirty="0"/>
              <a:t>The supermarket can introduce bundle offers or discounts for related items such as </a:t>
            </a:r>
            <a:r>
              <a:rPr lang="en-US" b="1" dirty="0"/>
              <a:t>bread, milk, and butter</a:t>
            </a:r>
            <a:r>
              <a:rPr lang="en-US" dirty="0"/>
              <a:t>. Bundling these products can increase sales volume and improve customer convenience.</a:t>
            </a:r>
          </a:p>
        </p:txBody>
      </p:sp>
    </p:spTree>
    <p:extLst>
      <p:ext uri="{BB962C8B-B14F-4D97-AF65-F5344CB8AC3E}">
        <p14:creationId xmlns:p14="http://schemas.microsoft.com/office/powerpoint/2010/main" val="215932269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Ion Boardroom</Template>
  <TotalTime>39</TotalTime>
  <Words>43</Words>
  <Application>Microsoft Office PowerPoint</Application>
  <PresentationFormat>Widescreen</PresentationFormat>
  <Paragraphs>12</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Century Gothic</vt:lpstr>
      <vt:lpstr>Wingdings 3</vt:lpstr>
      <vt:lpstr>Ion Boardroom</vt:lpstr>
      <vt:lpstr>Code output</vt:lpstr>
      <vt:lpstr>PART A DATASET AND TRANSACTION</vt:lpstr>
      <vt:lpstr>PART  B APRIORI ALOGORITHM= FREQUENT ITEMSETS</vt:lpstr>
      <vt:lpstr>ASSOCIATION RULES</vt:lpstr>
      <vt:lpstr>PART C: INTERPRETATION: Strongest Association Rules Based on Lift </vt:lpstr>
      <vt:lpstr>Business Recommendations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Code output</dc:title>
  <dc:creator>M</dc:creator>
  <cp:lastModifiedBy>M</cp:lastModifiedBy>
  <cp:revision>6</cp:revision>
  <dcterms:created xsi:type="dcterms:W3CDTF">2025-12-14T12:12:38Z</dcterms:created>
  <dcterms:modified xsi:type="dcterms:W3CDTF">2025-12-14T13:26:33Z</dcterms:modified>
</cp:coreProperties>
</file>